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Interim edition, 18 October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Catalog resource: “India Districts Factsheets of NFHS-5, 2019-2021”; exact destination is recorded in README and DATA_SOURCES.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HindustanTimesLabs nfhs_district-wise.csv and README. Counts describe the input file, not a population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NFHS-4 compilation and HindustanTimesLabs district GeoJSON. Boundary vintage is not confirmed as survey-equivalent.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Bank-account and mobile phone measures were not identified under the requested wording in the NFHS-4 compilation; exact NFHS-5 labels remain unverified.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 the selected parent/child mapping and any assumptions before calculating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Sixteen names remain unresolved by exact matching; source list and project crosswalk are cited in the report. This is a roster coverage statistic, not an outcome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interim UP map shows NFHS-4 baseline literacy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PMJDY Mission Document/Brochure, physical pp. 18, 20 and 30; NITI/UNDP ADP appraisal, physical pp. 15, 20 and 28. Paraphrases are in the coding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theory of change states assumptions. No programme effect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Consent gate and skip logic are included; pyxform conversion succeeded without warnings.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 remain descriptive. Aspirational District comparisons are not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7365D"/>
                </a:solidFill>
              </a:defRPr>
            </a:pPr>
            <a:r>
              <a:t>ZilaLens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9875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68C8C"/>
                </a:solidFill>
              </a:defRPr>
            </a:pPr>
            <a:r>
              <a:t>Women’s Financial Inclusion and Empowerment Across Indian Districts, NFHS-4 (2015-16) to NFHS-5 (2019-21)</a:t>
            </a:r>
          </a:p>
          <a:p>
            <a:r>
              <a:t>Kanishk Gupta | https://github.com/GKanishk16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73"/>
                </a:solidFill>
              </a:defRPr>
            </a:pPr>
            <a:r>
              <a:t>ZilaLens  |  Kanishk Gupta         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NFHS-5 is the missing input for all two-round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63238"/>
                </a:solidFill>
              </a:defRPr>
            </a:pPr>
            <a:r>
              <a:t>The official data.gov.in workbook resource returned HTTP 403 in this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573"/>
                </a:solidFill>
              </a:defRPr>
            </a:pPr>
            <a:r>
              <a:t>Catalog resource: “India Districts Factsheets of NFHS-5, 2019-2021”; exact destination is recorded in README and DATA_SOURCES.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73"/>
                </a:solidFill>
              </a:defRPr>
            </a:pPr>
            <a:r>
              <a:t>ZilaLens  |  Kanishk Gupta         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NFHS-4 provides a usable district baseline for selected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63238"/>
                </a:solidFill>
              </a:defRPr>
            </a:pPr>
            <a:r>
              <a:t>59,241 district-indicator rows and 93 district indicators are present in the specified NFHS-4 compilation.</a:t>
            </a:r>
          </a:p>
        </p:txBody>
      </p:sp>
      <p:pic>
        <p:nvPicPr>
          <p:cNvPr id="4" name="Picture 3" descr="women_literate_nfh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88920"/>
            <a:ext cx="3189447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94960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573"/>
                </a:solidFill>
              </a:defRPr>
            </a:pPr>
            <a:r>
              <a:t>Source: HindustanTimesLabs nfhs_district-wise.csv and README. Counts describe the input file, not a population finding.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73"/>
                </a:solidFill>
              </a:defRPr>
            </a:pPr>
            <a:r>
              <a:t>ZilaLens  |  Kanishk Gupta         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Improved sanitation varies across mapped districts at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63238"/>
                </a:solidFill>
              </a:defRPr>
            </a:pPr>
            <a:r>
              <a:t>The interim map joins 563 district estimates to the available public district GeoJSON.</a:t>
            </a:r>
          </a:p>
        </p:txBody>
      </p:sp>
      <p:pic>
        <p:nvPicPr>
          <p:cNvPr id="4" name="Picture 3" descr="improved_sanitation_nfh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88920"/>
            <a:ext cx="3189447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94960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573"/>
                </a:solidFill>
              </a:defRPr>
            </a:pPr>
            <a:r>
              <a:t>Source: NFHS-4 compilation and HindustanTimesLabs district GeoJSON. Boundary vintage is not confirmed as survey-equivalent.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73"/>
                </a:solidFill>
              </a:defRPr>
            </a:pPr>
            <a:r>
              <a:t>ZilaLens  |  Kanishk Gupta         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Common indicators must be confirmed from both factsheet rounds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63238"/>
                </a:solidFill>
              </a:defRPr>
            </a:pPr>
            <a:r>
              <a:t>NFHS-4 includes literacy, schooling, early marriage, clean fuel and improved sanitation indicators.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573"/>
                </a:solidFill>
              </a:defRPr>
            </a:pPr>
            <a:r>
              <a:t>Bank-account and mobile phone measures were not identified under the requested wording in the NFHS-4 compilation; exact NFHS-5 labels remain unverified.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73"/>
                </a:solidFill>
              </a:defRPr>
            </a:pPr>
            <a:r>
              <a:t>ZilaLens  |  Kanishk Gupta         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Name similarity cannot resolve parent and child districts by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63238"/>
                </a:solidFill>
              </a:defRPr>
            </a:pPr>
            <a:r>
              <a:t>Current crosswalk uses normalized names and retains fuzzy suggestions for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573"/>
                </a:solidFill>
              </a:defRPr>
            </a:pPr>
            <a:r>
              <a:t>Document the selected parent/child mapping and any assumptions before calculating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73"/>
                </a:solidFill>
              </a:defRPr>
            </a:pPr>
            <a:r>
              <a:t>ZilaLens  |  Kanishk Gupta         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The 112-district roster needs a reviewed NFHS crosswalk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63238"/>
                </a:solidFill>
              </a:defRPr>
            </a:pPr>
            <a:r>
              <a:t>The NITI 2022 roster has 112 entries; 96 match NFHS-4 state–district names exactly.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573"/>
                </a:solidFill>
              </a:defRPr>
            </a:pPr>
            <a:r>
              <a:t>Sixteen names remain unresolved by exact matching; source list and project crosswalk are cited in the report. This is a roster coverage statistic, not an outcome estimate.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73"/>
                </a:solidFill>
              </a:defRPr>
            </a:pPr>
            <a:r>
              <a:t>ZilaLens  |  Kanishk Gupta         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UP change rankings wait for the paired NFHS-5 estimates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63238"/>
                </a:solidFill>
              </a:defRPr>
            </a:pPr>
            <a:r>
              <a:t>Ghaziabad and Gautam Buddha Nagar can be compared with state and national benchmarks only after harmonization.</a:t>
            </a:r>
          </a:p>
        </p:txBody>
      </p:sp>
      <p:pic>
        <p:nvPicPr>
          <p:cNvPr id="4" name="Picture 3" descr="women_literate_up_nfh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88920"/>
            <a:ext cx="3161387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94960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573"/>
                </a:solidFill>
              </a:defRPr>
            </a:pPr>
            <a:r>
              <a:t>The interim UP map shows NFHS-4 baseline literacy 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73"/>
                </a:solidFill>
              </a:defRPr>
            </a:pPr>
            <a:r>
              <a:t>ZilaLens  |  Kanishk Gupta         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Policy documents point to reach, connectivity and delivery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63238"/>
                </a:solidFill>
              </a:defRPr>
            </a:pPr>
            <a:r>
              <a:t>The PMJDY brochure describes branch and Bank Mitra reach and notes telecom constraints in some locations.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573"/>
                </a:solidFill>
              </a:defRPr>
            </a:pPr>
            <a:r>
              <a:t>PMJDY Mission Document/Brochure, physical pp. 18, 20 and 30; NITI/UNDP ADP appraisal, physical pp. 15, 20 and 28. Paraphrases are in the coding matrix.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73"/>
                </a:solidFill>
              </a:defRPr>
            </a:pPr>
            <a:r>
              <a:t>ZilaLens  |  Kanishk Gupta         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The intervention should measure use and control alongside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63238"/>
                </a:solidFill>
              </a:defRPr>
            </a:pPr>
            <a:r>
              <a:t>Proposed pathway: reachable service → women’s independent use → financial options → resilience.</a:t>
            </a:r>
          </a:p>
        </p:txBody>
      </p:sp>
      <p:pic>
        <p:nvPicPr>
          <p:cNvPr id="4" name="Picture 3" descr="theory_of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17520"/>
            <a:ext cx="10607040" cy="3662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73"/>
                </a:solidFill>
              </a:defRPr>
            </a:pPr>
            <a:r>
              <a:t>ZilaLens  |  Kanishk Gupta         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Field validation can test whether ownership translates into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63238"/>
                </a:solidFill>
              </a:defRPr>
            </a:pPr>
            <a:r>
              <a:t>The bilingual XLSForm asks about recent transactions, decision control, phone access, service failures, help needs and barriers.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573"/>
                </a:solidFill>
              </a:defRPr>
            </a:pPr>
            <a:r>
              <a:t>Consent gate and skip logic are included; pyxform conversion succeeded without warnings.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73"/>
                </a:solidFill>
              </a:defRPr>
            </a:pPr>
            <a:r>
              <a:t>ZilaLens  |  Kanishk Gupta         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District selection and final recommendations follow verified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63238"/>
                </a:solidFill>
              </a:defRPr>
            </a:pPr>
            <a:r>
              <a:t>Provide the official workbook, then review the crosswalk and common indicators before selecting 3–5 UP districts.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573"/>
                </a:solidFill>
              </a:defRPr>
            </a:pPr>
            <a:r>
              <a:t>Results remain descriptive. Aspirational District comparisons are not causal.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73"/>
                </a:solidFill>
              </a:defRPr>
            </a:pPr>
            <a:r>
              <a:t>ZilaLens  |  Kanishk Gupta                      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ZilaLens | Women’s Financial Inclusion and Empowerment Across Indian Districts, NFHS-4 (2015-16) to NFHS-5 (2019-21)</dc:title>
  <dc:subject>Interim evidence deck; NFHS-5 required for comparison</dc:subject>
  <dc:creator>Kanishk Gupta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