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Interim edition, 18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555 districts per indicator; source: outputs/tables/district_changes.csv. Descriptive changes, not causal effects.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HindustanTimesLabs nfhs_district-wise.csv and README. Counts describe the input file, not a population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NFHS-4 compilation and HindustanTimesLabs district GeoJSON. Boundary vintage is not confirmed as survey-equivalent.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finance-linked index is unavailable; a separate typology uses literacy, schooling, early marriage and clean-fuel levels and changes. Source: analysis_status.md.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appendix lacks complete parent assignments. Those entries are excluded rather than imputed. See data/processed/harvard_changed_geographies.csv.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Sixteen names remain unresolved by exact matching; source list and project crosswalk are cited in the report. This is a roster coverage statistic, not an outcome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75 UP districts ranked in outputs/tables/up_district_rankings.csv. Ghaziabad ranks 1; Gautam Buddha Nagar ranks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PMJDY Mission Document/Brochure, physical pp. 18, 20 and 30; NITI/UNDP ADP appraisal, physical pp. 15, 20 and 28. Paraphrases are in the coding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theory of change states assumptions. No programme effect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Consent gate and skip logic are included; pyxform conversion succeeded without warnings.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Validate financial access, service barriers and boundary fit before final funding decisions. Aspirational contrasts are descriptive, not causal.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7365D"/>
                </a:solidFill>
              </a:defRPr>
            </a:pPr>
            <a:r>
              <a:t>ZilaLens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98755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168C8C"/>
                </a:solidFill>
              </a:defRPr>
            </a:pPr>
            <a:r>
              <a:t>Women’s Financial Inclusion and Empowerment Across Indian Districts, NFHS-4 (2015-16) to NFHS-5 (2019-21)</a:t>
            </a:r>
          </a:p>
          <a:p>
            <a:r>
              <a:t>Kanishk Gupta | https://github.com/GKanishk16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Four common indicators show district-level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Average matched changes: literacy +6.5 pp; schooling +6.3 pp; early marriage −3.8 pp; clean fuel +15.9 pp.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555 districts per indicator; source: outputs/tables/district_changes.csv. Descriptive changes, not causal effects.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NFHS-4 provides a usable district baseline for selected indicators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59,241 district-indicator rows and 93 district indicators are present in the specified NFHS-4 compilation.</a:t>
            </a:r>
          </a:p>
        </p:txBody>
      </p:sp>
      <p:pic>
        <p:nvPicPr>
          <p:cNvPr id="4" name="Picture 3" descr="women_literate_nfh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88920"/>
            <a:ext cx="3189447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6035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Source: HindustanTimesLabs nfhs_district-wise.csv and README. Counts describe the input file, not a population finding.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Improved sanitation varies across mapped districts at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interim map joins 563 district estimates to the available public district GeoJSON.</a:t>
            </a:r>
          </a:p>
        </p:txBody>
      </p:sp>
      <p:pic>
        <p:nvPicPr>
          <p:cNvPr id="4" name="Picture 3" descr="improved_sanitation_nfh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88920"/>
            <a:ext cx="3189447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6035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Source: NFHS-4 compilation and HindustanTimesLabs district GeoJSON. Boundary vintage is not confirmed as survey-equivalent.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Financial indicators are absent; a related-outcome typology is available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Bank-account use and women’s own mobile phone use are not available in these source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The finance-linked index is unavailable; a separate typology uses literacy, schooling, early marriage and clean-fuel levels and changes. Source: analysis_status.md.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Changed geographies are screened before direct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Harvard Appendix A lists 130 changed/new geography entries; 555 name-matched district IDs remain eligible.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The appendix lacks complete parent assignments. Those entries are excluded rather than imputed. See data/processed/harvard_changed_geographies.csv.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The 112-district roster needs a reviewed NFHS crosswalk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NITI 2022 roster has 112 entries; 96 match NFHS-4 state–district names exactly.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Sixteen names remain unresolved by exact matching; source list and project crosswalk are cited in the report. This is a roster coverage statistic, not an outcome estimate.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UP ranking flags five districts for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lowest five in the NFHS-5 four-indicator mean-rank composite are Shrawasti, Lalitpur, Bahraich, Balrampur and Sitapur.</a:t>
            </a:r>
          </a:p>
        </p:txBody>
      </p:sp>
      <p:pic>
        <p:nvPicPr>
          <p:cNvPr id="4" name="Picture 3" descr="women_literate_up_nfh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88920"/>
            <a:ext cx="3161387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6035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All 75 UP districts ranked in outputs/tables/up_district_rankings.csv. Ghaziabad ranks 1; Gautam Buddha Nagar ranks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Policy documents point to reach, connectivity and delivery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PMJDY brochure describes branch and Bank Mitra reach and notes telecom constraints in some locations.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PMJDY Mission Document/Brochure, physical pp. 18, 20 and 30; NITI/UNDP ADP appraisal, physical pp. 15, 20 and 28. Paraphrases are in the coding matrix.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The intervention should measure use and control alongside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Proposed pathway: reachable service → women’s independent use → financial options → resilience.</a:t>
            </a:r>
          </a:p>
        </p:txBody>
      </p:sp>
      <p:pic>
        <p:nvPicPr>
          <p:cNvPr id="4" name="Picture 3" descr="theory_of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7520"/>
            <a:ext cx="10607040" cy="3662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Field validation can test whether ownership translates into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bilingual XLSForm asks about recent transactions, decision control, phone access, service failures, help needs and barriers.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Consent gate and skip logic are included; pyxform conversion succeeded without warnings.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Five UP districts are provisional candidates for field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Shrawasti, Lalitpur, Bahraich, Balrampur and Sitapur rank lowest on the available four-indicator NFHS-5 composite.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Validate financial access, service barriers and boundary fit before final funding decisions. Aspirational contrasts are descriptive, not causal.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ZilaLens | Women’s Financial Inclusion and Empowerment Across Indian Districts, NFHS-4 (2015-16) to NFHS-5 (2019-21)</dc:title>
  <dc:subject>Descriptive comparison; finance indicators unavailable</dc:subject>
  <dc:creator>Kanishk Gupta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